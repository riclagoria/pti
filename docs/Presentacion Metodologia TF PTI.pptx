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6" d="100"/>
          <a:sy n="56" d="100"/>
        </p:scale>
        <p:origin x="129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2B27F-CAF3-4CFF-9763-72B33A4C6526}" type="datetimeFigureOut">
              <a:rPr lang="es-AR" smtClean="0"/>
              <a:t>26/3/2026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35B81-AF47-4FD3-AE83-55A960D09E7B}" type="slidenum">
              <a:rPr lang="es-AR" smtClean="0"/>
              <a:t>‹Nº›</a:t>
            </a:fld>
            <a:endParaRPr lang="es-AR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9730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2B27F-CAF3-4CFF-9763-72B33A4C6526}" type="datetimeFigureOut">
              <a:rPr lang="es-AR" smtClean="0"/>
              <a:t>26/3/2026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35B81-AF47-4FD3-AE83-55A960D09E7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3203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2B27F-CAF3-4CFF-9763-72B33A4C6526}" type="datetimeFigureOut">
              <a:rPr lang="es-AR" smtClean="0"/>
              <a:t>26/3/2026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35B81-AF47-4FD3-AE83-55A960D09E7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62914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2B27F-CAF3-4CFF-9763-72B33A4C6526}" type="datetimeFigureOut">
              <a:rPr lang="es-AR" smtClean="0"/>
              <a:t>26/3/2026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35B81-AF47-4FD3-AE83-55A960D09E7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85074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2B27F-CAF3-4CFF-9763-72B33A4C6526}" type="datetimeFigureOut">
              <a:rPr lang="es-AR" smtClean="0"/>
              <a:t>26/3/2026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35B81-AF47-4FD3-AE83-55A960D09E7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80027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2B27F-CAF3-4CFF-9763-72B33A4C6526}" type="datetimeFigureOut">
              <a:rPr lang="es-AR" smtClean="0"/>
              <a:t>26/3/2026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35B81-AF47-4FD3-AE83-55A960D09E7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15063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2B27F-CAF3-4CFF-9763-72B33A4C6526}" type="datetimeFigureOut">
              <a:rPr lang="es-AR" smtClean="0"/>
              <a:t>26/3/2026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35B81-AF47-4FD3-AE83-55A960D09E7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97171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2B27F-CAF3-4CFF-9763-72B33A4C6526}" type="datetimeFigureOut">
              <a:rPr lang="es-AR" smtClean="0"/>
              <a:t>26/3/2026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35B81-AF47-4FD3-AE83-55A960D09E7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72828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2B27F-CAF3-4CFF-9763-72B33A4C6526}" type="datetimeFigureOut">
              <a:rPr lang="es-AR" smtClean="0"/>
              <a:t>26/3/2026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35B81-AF47-4FD3-AE83-55A960D09E7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62448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2B27F-CAF3-4CFF-9763-72B33A4C6526}" type="datetimeFigureOut">
              <a:rPr lang="es-AR" smtClean="0"/>
              <a:t>26/3/2026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35B81-AF47-4FD3-AE83-55A960D09E7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13340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2B27F-CAF3-4CFF-9763-72B33A4C6526}" type="datetimeFigureOut">
              <a:rPr lang="es-AR" smtClean="0"/>
              <a:t>26/3/2026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35B81-AF47-4FD3-AE83-55A960D09E7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9752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2B27F-CAF3-4CFF-9763-72B33A4C6526}" type="datetimeFigureOut">
              <a:rPr lang="es-AR" smtClean="0"/>
              <a:t>26/3/2026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35B81-AF47-4FD3-AE83-55A960D09E7B}" type="slidenum">
              <a:rPr lang="es-AR" smtClean="0"/>
              <a:t>‹Nº›</a:t>
            </a:fld>
            <a:endParaRPr lang="es-AR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699184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2B27F-CAF3-4CFF-9763-72B33A4C6526}" type="datetimeFigureOut">
              <a:rPr lang="es-AR" smtClean="0"/>
              <a:t>26/3/2026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35B81-AF47-4FD3-AE83-55A960D09E7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506220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2B27F-CAF3-4CFF-9763-72B33A4C6526}" type="datetimeFigureOut">
              <a:rPr lang="es-AR" smtClean="0"/>
              <a:t>26/3/2026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35B81-AF47-4FD3-AE83-55A960D09E7B}" type="slidenum">
              <a:rPr lang="es-AR" smtClean="0"/>
              <a:t>‹Nº›</a:t>
            </a:fld>
            <a:endParaRPr lang="es-AR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245828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2B27F-CAF3-4CFF-9763-72B33A4C6526}" type="datetimeFigureOut">
              <a:rPr lang="es-AR" smtClean="0"/>
              <a:t>26/3/2026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35B81-AF47-4FD3-AE83-55A960D09E7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975893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2B27F-CAF3-4CFF-9763-72B33A4C6526}" type="datetimeFigureOut">
              <a:rPr lang="es-AR" smtClean="0"/>
              <a:t>26/3/2026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35B81-AF47-4FD3-AE83-55A960D09E7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347300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2B27F-CAF3-4CFF-9763-72B33A4C6526}" type="datetimeFigureOut">
              <a:rPr lang="es-AR" smtClean="0"/>
              <a:t>26/3/2026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35B81-AF47-4FD3-AE83-55A960D09E7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86959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932B27F-CAF3-4CFF-9763-72B33A4C6526}" type="datetimeFigureOut">
              <a:rPr lang="es-AR" smtClean="0"/>
              <a:t>26/3/2026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6835B81-AF47-4FD3-AE83-55A960D09E7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934980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969A8F-C422-B748-F74B-DECAA8C5E2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1" y="685799"/>
            <a:ext cx="10357599" cy="2971801"/>
          </a:xfrm>
        </p:spPr>
        <p:txBody>
          <a:bodyPr>
            <a:normAutofit/>
          </a:bodyPr>
          <a:lstStyle/>
          <a:p>
            <a:r>
              <a:rPr lang="es-AR" sz="2200" dirty="0"/>
              <a:t>Formato Metodológico </a:t>
            </a:r>
            <a:br>
              <a:rPr lang="es-AR" sz="2200" dirty="0"/>
            </a:br>
            <a:r>
              <a:rPr lang="es-AR" dirty="0"/>
              <a:t>Proyecto Tecnológico Integrador </a:t>
            </a:r>
            <a:br>
              <a:rPr lang="es-AR" dirty="0"/>
            </a:br>
            <a:r>
              <a:rPr lang="es-AR" dirty="0"/>
              <a:t>Ingeniería Informática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C34809D-C5CA-F220-5BB5-EFC8D65F17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AR" dirty="0"/>
          </a:p>
          <a:p>
            <a:r>
              <a:rPr lang="es-AR" sz="3600" b="1" dirty="0"/>
              <a:t>Ing Oscar Gencarelli</a:t>
            </a:r>
          </a:p>
        </p:txBody>
      </p:sp>
    </p:spTree>
    <p:extLst>
      <p:ext uri="{BB962C8B-B14F-4D97-AF65-F5344CB8AC3E}">
        <p14:creationId xmlns:p14="http://schemas.microsoft.com/office/powerpoint/2010/main" val="101617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3B6ED4-9212-CFD7-D112-91B91FC79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5057"/>
            <a:ext cx="10515600" cy="5831906"/>
          </a:xfrm>
        </p:spPr>
        <p:txBody>
          <a:bodyPr/>
          <a:lstStyle/>
          <a:p>
            <a:pPr>
              <a:buNone/>
            </a:pPr>
            <a:r>
              <a:rPr lang="es-ES" b="1" dirty="0"/>
              <a:t>1. Información General del Proyecto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Título del proyecto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Autores (integrantes del equipo)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Docente tutor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Institución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Fecha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Versión del documento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Repositorio del proyecto (GitHub u otro) 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105691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8C6856-C644-4273-C02E-ACF9902A1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2860"/>
            <a:ext cx="10515600" cy="5934974"/>
          </a:xfrm>
        </p:spPr>
        <p:txBody>
          <a:bodyPr/>
          <a:lstStyle/>
          <a:p>
            <a:pPr>
              <a:buNone/>
            </a:pPr>
            <a:r>
              <a:rPr lang="es-ES" b="1" dirty="0"/>
              <a:t>2. Resumen Ejecutivo</a:t>
            </a:r>
          </a:p>
          <a:p>
            <a:pPr>
              <a:buNone/>
            </a:pPr>
            <a:r>
              <a:rPr lang="es-ES" dirty="0"/>
              <a:t>Breve descripción del proyecto (1 página máximo):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Problema abordado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Solución propuesta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Tecnologías utilizadas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Resultados esperados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Impacto potencial (organizacional, social o tecnológico) 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603158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0013F7-1257-102C-2F77-2F822D362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6596"/>
            <a:ext cx="10515600" cy="559036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b="1" dirty="0"/>
              <a:t>3. Planteo del Problema</a:t>
            </a:r>
          </a:p>
          <a:p>
            <a:pPr>
              <a:buNone/>
            </a:pPr>
            <a:r>
              <a:rPr lang="es-ES" dirty="0"/>
              <a:t>Descripción clara y fundamentada del problema: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Contexto del problema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Situación actual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Limitaciones existentes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Justificación del proyecto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Pregunta de investigación o necesidad tecnológica </a:t>
            </a:r>
          </a:p>
          <a:p>
            <a:pPr>
              <a:buNone/>
            </a:pPr>
            <a:r>
              <a:rPr lang="es-ES" dirty="0"/>
              <a:t>Tip: Se espera evidencia (entrevistas, observaciones, datos, benchmarking).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896462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D45783-5ABE-C26B-6D89-51965FD0B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1653"/>
            <a:ext cx="10515600" cy="524531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b="1" dirty="0"/>
              <a:t>4. Objetivos del Proyecto</a:t>
            </a:r>
          </a:p>
          <a:p>
            <a:pPr>
              <a:buNone/>
            </a:pPr>
            <a:r>
              <a:rPr lang="es-ES" b="1" dirty="0"/>
              <a:t>Objetivo General</a:t>
            </a:r>
          </a:p>
          <a:p>
            <a:pPr>
              <a:buNone/>
            </a:pPr>
            <a:r>
              <a:rPr lang="es-ES" dirty="0"/>
              <a:t>Define el propósito principal del proyecto.</a:t>
            </a:r>
          </a:p>
          <a:p>
            <a:pPr>
              <a:buNone/>
            </a:pPr>
            <a:r>
              <a:rPr lang="es-ES" b="1" dirty="0"/>
              <a:t>Objetivos Específicos</a:t>
            </a:r>
          </a:p>
          <a:p>
            <a:pPr>
              <a:buNone/>
            </a:pPr>
            <a:r>
              <a:rPr lang="es-ES" dirty="0"/>
              <a:t>Lista de objetivos concretos y medibles.</a:t>
            </a:r>
          </a:p>
          <a:p>
            <a:pPr>
              <a:buNone/>
            </a:pPr>
            <a:r>
              <a:rPr lang="es-ES" dirty="0"/>
              <a:t>Ejemplo: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Analizar el proceso actual de ___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Diseñar una solución basada en ___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Implementar un prototipo funcional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Validar la solución mediante ___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559111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056A79-91BF-8BBB-DEF9-E488B3C59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9343"/>
            <a:ext cx="10515600" cy="56076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b="1" dirty="0"/>
              <a:t>5. Alcance del Proyecto</a:t>
            </a:r>
          </a:p>
          <a:p>
            <a:pPr>
              <a:buNone/>
            </a:pPr>
            <a:r>
              <a:rPr lang="es-ES" dirty="0"/>
              <a:t>Define qué incluye y qué no incluye el proyecto.</a:t>
            </a:r>
          </a:p>
          <a:p>
            <a:pPr>
              <a:buNone/>
            </a:pPr>
            <a:r>
              <a:rPr lang="es-ES" b="1" dirty="0"/>
              <a:t>Incluye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funcionalidades contempladas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módulos a desarrollar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procesos cubiertos </a:t>
            </a:r>
          </a:p>
          <a:p>
            <a:pPr>
              <a:buNone/>
            </a:pPr>
            <a:r>
              <a:rPr lang="es-ES" b="1" dirty="0"/>
              <a:t>No incluye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funcionalidades fuera del alcance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integraciones futuras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mejoras posteriores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CANVAS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344871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115990-2CDD-E7C0-76C5-17AD81E26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2309"/>
            <a:ext cx="10515600" cy="58146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AR" b="1" dirty="0"/>
              <a:t>6. Marco Teórico y Tecnológico</a:t>
            </a:r>
          </a:p>
          <a:p>
            <a:pPr>
              <a:buNone/>
            </a:pPr>
            <a:r>
              <a:rPr lang="es-AR" dirty="0"/>
              <a:t>Conceptos que fundamentan la solución:</a:t>
            </a:r>
          </a:p>
          <a:p>
            <a:pPr>
              <a:buNone/>
            </a:pPr>
            <a:r>
              <a:rPr lang="es-AR" dirty="0"/>
              <a:t>Ejemplos: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dirty="0"/>
              <a:t>Inteligencia Artificial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dirty="0"/>
              <a:t>Machine </a:t>
            </a:r>
            <a:r>
              <a:rPr lang="es-AR" dirty="0" err="1"/>
              <a:t>Learning</a:t>
            </a:r>
            <a:r>
              <a:rPr lang="es-A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dirty="0"/>
              <a:t>Arquitecturas de software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dirty="0"/>
              <a:t>Cloud Computing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dirty="0"/>
              <a:t>Internet </a:t>
            </a:r>
            <a:r>
              <a:rPr lang="es-AR" dirty="0" err="1"/>
              <a:t>of</a:t>
            </a:r>
            <a:r>
              <a:rPr lang="es-AR" dirty="0"/>
              <a:t> </a:t>
            </a:r>
            <a:r>
              <a:rPr lang="es-AR" dirty="0" err="1"/>
              <a:t>Things</a:t>
            </a:r>
            <a:r>
              <a:rPr lang="es-A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dirty="0"/>
              <a:t>Ciberseguridad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dirty="0"/>
              <a:t>UX/UI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dirty="0"/>
              <a:t>Metodologías ágiles </a:t>
            </a:r>
          </a:p>
          <a:p>
            <a:pPr>
              <a:buNone/>
            </a:pPr>
            <a:r>
              <a:rPr lang="es-AR" dirty="0"/>
              <a:t>Debe incluir citas bibliográficas o fuentes.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201725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3D0E45-31DC-34E8-C90A-0190F180E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5057"/>
            <a:ext cx="10515600" cy="5831906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s-ES" b="1" dirty="0"/>
              <a:t>7. Metodología de Trabajo</a:t>
            </a:r>
          </a:p>
          <a:p>
            <a:pPr>
              <a:buNone/>
            </a:pPr>
            <a:r>
              <a:rPr lang="es-ES" dirty="0"/>
              <a:t>Se recomienda combinar:</a:t>
            </a:r>
          </a:p>
          <a:p>
            <a:pPr>
              <a:buNone/>
            </a:pPr>
            <a:r>
              <a:rPr lang="es-ES" b="1" dirty="0"/>
              <a:t>Enfoque metodológico</a:t>
            </a:r>
          </a:p>
          <a:p>
            <a:pPr>
              <a:buNone/>
            </a:pPr>
            <a:r>
              <a:rPr lang="es-ES" dirty="0"/>
              <a:t>Ejemplo: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 err="1"/>
              <a:t>Design</a:t>
            </a:r>
            <a:r>
              <a:rPr lang="es-ES" dirty="0"/>
              <a:t> Thinking (identificación del problema)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Scrum o Kanban (gestión del proyecto)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Desarrollo iterativo incremental </a:t>
            </a:r>
          </a:p>
          <a:p>
            <a:pPr>
              <a:buNone/>
            </a:pPr>
            <a:r>
              <a:rPr lang="es-ES" b="1" dirty="0"/>
              <a:t>Etapas del proyecto</a:t>
            </a:r>
          </a:p>
          <a:p>
            <a:pPr>
              <a:buFont typeface="+mj-lt"/>
              <a:buAutoNum type="arabicPeriod"/>
            </a:pPr>
            <a:r>
              <a:rPr lang="es-ES" dirty="0"/>
              <a:t>Investigación inicial </a:t>
            </a:r>
          </a:p>
          <a:p>
            <a:pPr>
              <a:buFont typeface="+mj-lt"/>
              <a:buAutoNum type="arabicPeriod"/>
            </a:pPr>
            <a:r>
              <a:rPr lang="es-ES" dirty="0"/>
              <a:t>Análisis del problema </a:t>
            </a:r>
          </a:p>
          <a:p>
            <a:pPr>
              <a:buFont typeface="+mj-lt"/>
              <a:buAutoNum type="arabicPeriod"/>
            </a:pPr>
            <a:r>
              <a:rPr lang="es-ES" dirty="0"/>
              <a:t>Diseño de solución </a:t>
            </a:r>
          </a:p>
          <a:p>
            <a:pPr>
              <a:buFont typeface="+mj-lt"/>
              <a:buAutoNum type="arabicPeriod"/>
            </a:pPr>
            <a:r>
              <a:rPr lang="es-ES" dirty="0"/>
              <a:t>Desarrollo del prototipo </a:t>
            </a:r>
          </a:p>
          <a:p>
            <a:pPr>
              <a:buFont typeface="+mj-lt"/>
              <a:buAutoNum type="arabicPeriod"/>
            </a:pPr>
            <a:r>
              <a:rPr lang="es-ES" dirty="0"/>
              <a:t>Validación </a:t>
            </a:r>
          </a:p>
          <a:p>
            <a:pPr>
              <a:buFont typeface="+mj-lt"/>
              <a:buAutoNum type="arabicPeriod"/>
            </a:pPr>
            <a:r>
              <a:rPr lang="es-ES" dirty="0"/>
              <a:t>Documentación final </a:t>
            </a:r>
          </a:p>
          <a:p>
            <a:pPr>
              <a:buNone/>
            </a:pPr>
            <a:r>
              <a:rPr lang="es-ES" b="1" dirty="0"/>
              <a:t>Herramientas de gestión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Jira / Trello / </a:t>
            </a:r>
            <a:r>
              <a:rPr lang="es-ES" dirty="0" err="1"/>
              <a:t>Notion</a:t>
            </a:r>
            <a:r>
              <a:rPr lang="es-E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GitHub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Miro / </a:t>
            </a:r>
            <a:r>
              <a:rPr lang="es-ES" dirty="0" err="1"/>
              <a:t>Figma</a:t>
            </a:r>
            <a:r>
              <a:rPr lang="es-E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Google Drive 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236711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6DFF73-0F68-32F7-F5BE-77BB4BD58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3298"/>
            <a:ext cx="10515600" cy="5883665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s-ES" b="1" dirty="0"/>
              <a:t>8. Análisis de Requerimientos</a:t>
            </a:r>
          </a:p>
          <a:p>
            <a:pPr>
              <a:buNone/>
            </a:pPr>
            <a:r>
              <a:rPr lang="es-ES" b="1" dirty="0"/>
              <a:t>Requerimientos funcionales</a:t>
            </a:r>
          </a:p>
          <a:p>
            <a:pPr>
              <a:buNone/>
            </a:pPr>
            <a:r>
              <a:rPr lang="es-ES" dirty="0"/>
              <a:t>Qué debe hacer el sistema.</a:t>
            </a:r>
          </a:p>
          <a:p>
            <a:pPr>
              <a:buNone/>
            </a:pPr>
            <a:r>
              <a:rPr lang="es-ES" dirty="0"/>
              <a:t>Ejemplo: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El sistema debe permitir registrar usuarios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El sistema debe generar reportes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El sistema debe procesar datos en tiempo real </a:t>
            </a:r>
          </a:p>
          <a:p>
            <a:pPr>
              <a:buNone/>
            </a:pPr>
            <a:r>
              <a:rPr lang="es-ES" b="1" dirty="0"/>
              <a:t>Requerimientos no funcionales</a:t>
            </a:r>
          </a:p>
          <a:p>
            <a:pPr>
              <a:buNone/>
            </a:pPr>
            <a:r>
              <a:rPr lang="es-ES" dirty="0"/>
              <a:t>Calidad del sistema: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seguridad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rendimiento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usabilidad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escalabilidad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disponibilidad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90562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4C38DE-D21A-F1A2-724A-84E1F20EA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6045"/>
            <a:ext cx="10515600" cy="590091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b="1" dirty="0"/>
              <a:t>9. Diseño de la Solución</a:t>
            </a:r>
          </a:p>
          <a:p>
            <a:pPr>
              <a:buNone/>
            </a:pPr>
            <a:r>
              <a:rPr lang="es-ES" b="1" dirty="0"/>
              <a:t>Arquitectura del sistema</a:t>
            </a:r>
          </a:p>
          <a:p>
            <a:pPr>
              <a:buNone/>
            </a:pPr>
            <a:r>
              <a:rPr lang="es-ES" dirty="0"/>
              <a:t>Descripción general del sistema.</a:t>
            </a:r>
          </a:p>
          <a:p>
            <a:pPr>
              <a:buNone/>
            </a:pPr>
            <a:r>
              <a:rPr lang="es-ES" dirty="0"/>
              <a:t>Ejemplo: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cliente-servidor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microservicios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API REST </a:t>
            </a:r>
          </a:p>
          <a:p>
            <a:pPr>
              <a:buNone/>
            </a:pPr>
            <a:r>
              <a:rPr lang="es-ES" b="1" dirty="0"/>
              <a:t>Diagramas sugeridos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Diagrama de arquitectura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Diagrama de componentes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Diagrama entidad-relación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Diagrama de casos de uso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Diagrama de flujo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549894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D7B48439-B022-B1EB-04D8-F964CCA2B19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904014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77476665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839782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dirty="0"/>
                        <a:t>Tipo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/>
                        <a:t>Tecnología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10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/>
                        <a:t>Frontend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/>
                        <a:t>React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33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/>
                        <a:t>Backend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/>
                        <a:t>Python / Node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1165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/>
                        <a:t>Base de datos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/>
                        <a:t>PostgreSQL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7624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/>
                        <a:t>Cloud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/>
                        <a:t>AWS / Firebase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3420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/>
                        <a:t>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dirty="0" err="1"/>
                        <a:t>TensorFlow</a:t>
                      </a:r>
                      <a:r>
                        <a:rPr lang="es-AR" dirty="0"/>
                        <a:t> / </a:t>
                      </a:r>
                      <a:r>
                        <a:rPr lang="es-AR" dirty="0" err="1"/>
                        <a:t>OpenAI</a:t>
                      </a:r>
                      <a:r>
                        <a:rPr lang="es-AR" dirty="0"/>
                        <a:t> API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3981905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45612F10-4316-2233-352E-C200763FB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49986"/>
            <a:ext cx="1027262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10. Tecnologías Utilizadas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altLang="es-A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AR" altLang="es-AR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Lista justificada: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Ejemplo: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altLang="es-A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5541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A03B6E8B-0A97-12D3-9E14-45F06F94FF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4337513"/>
              </p:ext>
            </p:extLst>
          </p:nvPr>
        </p:nvGraphicFramePr>
        <p:xfrm>
          <a:off x="838200" y="2525107"/>
          <a:ext cx="10515600" cy="296761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09866699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5117624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77373032"/>
                    </a:ext>
                  </a:extLst>
                </a:gridCol>
              </a:tblGrid>
              <a:tr h="593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2900"/>
                        <a:t>Fase</a:t>
                      </a:r>
                    </a:p>
                  </a:txBody>
                  <a:tcPr marT="73632" marB="736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2900"/>
                        <a:t>Actividades</a:t>
                      </a:r>
                    </a:p>
                  </a:txBody>
                  <a:tcPr marT="73632" marB="736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2900"/>
                        <a:t>Duración</a:t>
                      </a:r>
                    </a:p>
                  </a:txBody>
                  <a:tcPr marT="73632" marB="736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190350"/>
                  </a:ext>
                </a:extLst>
              </a:tr>
              <a:tr h="593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2900"/>
                        <a:t>Investigación</a:t>
                      </a:r>
                    </a:p>
                  </a:txBody>
                  <a:tcPr marT="73632" marB="736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2900"/>
                        <a:t>relevamiento</a:t>
                      </a:r>
                    </a:p>
                  </a:txBody>
                  <a:tcPr marT="73632" marB="736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2900"/>
                        <a:t>2 semanas</a:t>
                      </a:r>
                    </a:p>
                  </a:txBody>
                  <a:tcPr marT="73632" marB="736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7532788"/>
                  </a:ext>
                </a:extLst>
              </a:tr>
              <a:tr h="593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2900"/>
                        <a:t>Diseño</a:t>
                      </a:r>
                    </a:p>
                  </a:txBody>
                  <a:tcPr marT="73632" marB="736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2900"/>
                        <a:t>arquitectura</a:t>
                      </a:r>
                    </a:p>
                  </a:txBody>
                  <a:tcPr marT="73632" marB="736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2900"/>
                        <a:t>2 semanas</a:t>
                      </a:r>
                    </a:p>
                  </a:txBody>
                  <a:tcPr marT="73632" marB="736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1332455"/>
                  </a:ext>
                </a:extLst>
              </a:tr>
              <a:tr h="593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2900"/>
                        <a:t>Desarrollo</a:t>
                      </a:r>
                    </a:p>
                  </a:txBody>
                  <a:tcPr marT="73632" marB="736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2900"/>
                        <a:t>prototipo</a:t>
                      </a:r>
                    </a:p>
                  </a:txBody>
                  <a:tcPr marT="73632" marB="736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2900"/>
                        <a:t>6 semanas</a:t>
                      </a:r>
                    </a:p>
                  </a:txBody>
                  <a:tcPr marT="73632" marB="736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8402537"/>
                  </a:ext>
                </a:extLst>
              </a:tr>
              <a:tr h="593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2900"/>
                        <a:t>Testing</a:t>
                      </a:r>
                    </a:p>
                  </a:txBody>
                  <a:tcPr marT="73632" marB="736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2900"/>
                        <a:t>validación</a:t>
                      </a:r>
                    </a:p>
                  </a:txBody>
                  <a:tcPr marT="73632" marB="736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2900" dirty="0"/>
                        <a:t>2 semanas</a:t>
                      </a:r>
                    </a:p>
                  </a:txBody>
                  <a:tcPr marT="73632" marB="736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5894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40850EA3-CFCA-ECE3-E83B-7F7CC55E2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743325"/>
            <a:ext cx="4346062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11. Plan de Trabajo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Cronograma del proyecto.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Ejemplo: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altLang="es-A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9730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484985-5282-3B9E-D95F-579E0EAA5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7804"/>
            <a:ext cx="10515600" cy="5849159"/>
          </a:xfrm>
        </p:spPr>
        <p:txBody>
          <a:bodyPr/>
          <a:lstStyle/>
          <a:p>
            <a:pPr>
              <a:buNone/>
            </a:pPr>
            <a:r>
              <a:rPr lang="es-ES" sz="3600" b="1" dirty="0"/>
              <a:t>12. Desarrollo e Implementación</a:t>
            </a:r>
          </a:p>
          <a:p>
            <a:pPr>
              <a:buNone/>
            </a:pPr>
            <a:r>
              <a:rPr lang="es-ES" sz="3600" dirty="0"/>
              <a:t>Descripción del proceso de construcción: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/>
              <a:t>módulos implementados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/>
              <a:t>decisiones técnicas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/>
              <a:t>dificultades encontradas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/>
              <a:t>soluciones adoptadas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678721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FF797C-B9E3-28E4-CFEE-B3F53358F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034"/>
            <a:ext cx="10515600" cy="5969929"/>
          </a:xfrm>
        </p:spPr>
        <p:txBody>
          <a:bodyPr/>
          <a:lstStyle/>
          <a:p>
            <a:pPr>
              <a:buNone/>
            </a:pPr>
            <a:r>
              <a:rPr lang="es-ES" sz="3600" b="1" dirty="0"/>
              <a:t>13. Validación y Resultados</a:t>
            </a:r>
          </a:p>
          <a:p>
            <a:pPr>
              <a:buNone/>
            </a:pPr>
            <a:r>
              <a:rPr lang="es-ES" sz="3600" dirty="0"/>
              <a:t>Cómo se evaluó la solución:</a:t>
            </a:r>
          </a:p>
          <a:p>
            <a:pPr>
              <a:buNone/>
            </a:pPr>
            <a:r>
              <a:rPr lang="es-ES" sz="3600" dirty="0"/>
              <a:t>Ejemplos: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/>
              <a:t>pruebas funcionales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/>
              <a:t>pruebas de usuario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/>
              <a:t>métricas de desempeño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/>
              <a:t>comparación antes vs después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750430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AC9E29-9DF0-7DC1-B589-E41F3936C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1102"/>
            <a:ext cx="10515600" cy="5555861"/>
          </a:xfrm>
        </p:spPr>
        <p:txBody>
          <a:bodyPr/>
          <a:lstStyle/>
          <a:p>
            <a:pPr>
              <a:buNone/>
            </a:pPr>
            <a:r>
              <a:rPr lang="es-ES" sz="4000" b="1" dirty="0"/>
              <a:t>14. Impacto del Proyecto</a:t>
            </a:r>
          </a:p>
          <a:p>
            <a:pPr>
              <a:buNone/>
            </a:pPr>
            <a:r>
              <a:rPr lang="es-ES" sz="4000" dirty="0"/>
              <a:t>Impacto organizacional</a:t>
            </a:r>
          </a:p>
          <a:p>
            <a:pPr>
              <a:buNone/>
            </a:pPr>
            <a:r>
              <a:rPr lang="es-ES" sz="4000" dirty="0"/>
              <a:t>Impacto tecnológico</a:t>
            </a:r>
          </a:p>
          <a:p>
            <a:pPr>
              <a:buNone/>
            </a:pPr>
            <a:r>
              <a:rPr lang="es-ES" sz="4000" dirty="0"/>
              <a:t>Impacto social</a:t>
            </a:r>
          </a:p>
          <a:p>
            <a:pPr>
              <a:buNone/>
            </a:pPr>
            <a:r>
              <a:rPr lang="es-ES" sz="4000" dirty="0"/>
              <a:t>Posibilidades de escalabilidad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39472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6D3C79-A254-E99B-154F-C3ACD4686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2091"/>
            <a:ext cx="10515600" cy="5624872"/>
          </a:xfrm>
        </p:spPr>
        <p:txBody>
          <a:bodyPr/>
          <a:lstStyle/>
          <a:p>
            <a:pPr>
              <a:buNone/>
            </a:pPr>
            <a:r>
              <a:rPr lang="es-ES" sz="4000" b="1" dirty="0"/>
              <a:t>15. Conclusiones</a:t>
            </a:r>
          </a:p>
          <a:p>
            <a:pPr>
              <a:buNone/>
            </a:pPr>
            <a:r>
              <a:rPr lang="es-ES" sz="4000" dirty="0"/>
              <a:t>Reflexión final: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4000" dirty="0"/>
              <a:t>logros alcanzados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4000" dirty="0"/>
              <a:t>limitaciones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4000" dirty="0"/>
              <a:t>aprendizajes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4000" dirty="0"/>
              <a:t>trabajo futuro 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7944594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762598-63E1-0069-F9CC-8425B1D8E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2642"/>
            <a:ext cx="10515600" cy="5314321"/>
          </a:xfrm>
        </p:spPr>
        <p:txBody>
          <a:bodyPr/>
          <a:lstStyle/>
          <a:p>
            <a:pPr>
              <a:buNone/>
            </a:pPr>
            <a:r>
              <a:rPr lang="es-ES" sz="4000" b="1" dirty="0"/>
              <a:t>16. Bibliografía</a:t>
            </a:r>
          </a:p>
          <a:p>
            <a:pPr>
              <a:buNone/>
            </a:pPr>
            <a:r>
              <a:rPr lang="es-ES" sz="4000" dirty="0"/>
              <a:t>Norma sugerida: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4000" dirty="0"/>
              <a:t>APA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4000" dirty="0"/>
              <a:t>IEEE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8216098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D98A19-9565-99C6-9C82-BA860BD87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38355"/>
            <a:ext cx="10515600" cy="5538608"/>
          </a:xfrm>
        </p:spPr>
        <p:txBody>
          <a:bodyPr/>
          <a:lstStyle/>
          <a:p>
            <a:pPr>
              <a:buNone/>
            </a:pPr>
            <a:r>
              <a:rPr lang="es-AR" sz="3600" b="1" dirty="0"/>
              <a:t>17. Anexos</a:t>
            </a:r>
          </a:p>
          <a:p>
            <a:pPr>
              <a:buNone/>
            </a:pPr>
            <a:r>
              <a:rPr lang="es-AR" sz="3600" dirty="0"/>
              <a:t>Opcional: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3600" dirty="0"/>
              <a:t>código relevante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3600" dirty="0"/>
              <a:t>encuestas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3600" dirty="0"/>
              <a:t>entrevistas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3600" dirty="0"/>
              <a:t>manual de usuario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3600" dirty="0"/>
              <a:t>capturas del sistema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185604093"/>
      </p:ext>
    </p:extLst>
  </p:cSld>
  <p:clrMapOvr>
    <a:masterClrMapping/>
  </p:clrMapOvr>
</p:sld>
</file>

<file path=ppt/theme/theme1.xml><?xml version="1.0" encoding="utf-8"?>
<a:theme xmlns:a="http://schemas.openxmlformats.org/drawingml/2006/main" name="Sector">
  <a:themeElements>
    <a:clrScheme name="Secto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TM02900771[[fn=Segmento]]</Template>
  <TotalTime>75</TotalTime>
  <Words>532</Words>
  <Application>Microsoft Office PowerPoint</Application>
  <PresentationFormat>Panorámica</PresentationFormat>
  <Paragraphs>175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Arial</vt:lpstr>
      <vt:lpstr>Century Gothic</vt:lpstr>
      <vt:lpstr>Wingdings 3</vt:lpstr>
      <vt:lpstr>Sector</vt:lpstr>
      <vt:lpstr>Formato Metodológico  Proyecto Tecnológico Integrador  Ingeniería Informática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Oscar Gencarelli</dc:creator>
  <cp:lastModifiedBy>Oscar Gencarelli</cp:lastModifiedBy>
  <cp:revision>2</cp:revision>
  <dcterms:created xsi:type="dcterms:W3CDTF">2026-03-26T18:57:40Z</dcterms:created>
  <dcterms:modified xsi:type="dcterms:W3CDTF">2026-03-26T20:13:06Z</dcterms:modified>
</cp:coreProperties>
</file>